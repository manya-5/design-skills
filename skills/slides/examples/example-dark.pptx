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548640" cy="73152"/>
          </a:xfrm>
          <a:prstGeom prst="rect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2194560"/>
          </a:xfrm>
          <a:prstGeom prst="rect">
            <a:avLst/>
          </a:prstGeom>
          <a:noFill/>
        </p:spPr>
        <p:txBody>
          <a:bodyPr wrap="square" anchor="b" lIns="45720" rIns="45720"/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E7EAE4"/>
                </a:solidFill>
                <a:latin typeface="Arial"/>
              </a:rPr>
              <a:t>Ask before acting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A3ABB6"/>
                </a:solidFill>
                <a:latin typeface="Arial"/>
              </a:rPr>
              <a:t>Patterns for AI features that people can trust and steer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3ABB6"/>
                </a:solidFill>
                <a:latin typeface="Arial"/>
              </a:rPr>
              <a:t>Manya Singh, design 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97A4FF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E7EAE4"/>
                </a:solidFill>
                <a:latin typeface="Arial"/>
              </a:rPr>
              <a:t>Where trust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3ABB6"/>
                </a:solidFill>
                <a:latin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7EAE4"/>
                </a:solidFill>
                <a:latin typeface="Arial"/>
              </a:rPr>
              <a:t>What goes wrong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9601200" cy="4389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E7EAE4"/>
                </a:solidFill>
                <a:latin typeface="Arial"/>
              </a:rPr>
              <a:t>•  The assistant acts first and explains later, if at all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E7EAE4"/>
                </a:solidFill>
                <a:latin typeface="Arial"/>
              </a:rPr>
              <a:t>•  Progress is a spinner, so people can't tell stuck from slow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E7EAE4"/>
                </a:solidFill>
                <a:latin typeface="Arial"/>
              </a:rPr>
              <a:t>•  There is no way to stop halfway without losing work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E7EAE4"/>
                </a:solidFill>
                <a:latin typeface="Arial"/>
              </a:rPr>
              <a:t>•  Undo exists, but only for some actions and nobody knows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3ABB6"/>
                </a:solidFill>
                <a:latin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7EAE4"/>
                </a:solidFill>
                <a:latin typeface="Arial"/>
              </a:rPr>
              <a:t>Two ways to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737360"/>
            <a:ext cx="5135727" cy="54864"/>
          </a:xfrm>
          <a:prstGeom prst="rect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35727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7EAE4"/>
                </a:solidFill>
                <a:latin typeface="Arial"/>
              </a:rPr>
              <a:t>Confirm every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5135727" cy="3474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A3ABB6"/>
                </a:solidFill>
                <a:latin typeface="Arial"/>
              </a:rPr>
              <a:t>Safe, but people stop reading after the third prompt and approve everything. The check stops being a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0167" y="1737360"/>
            <a:ext cx="5135727" cy="54864"/>
          </a:xfrm>
          <a:prstGeom prst="rect">
            <a:avLst/>
          </a:prstGeom>
          <a:solidFill>
            <a:srgbClr val="363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0167" y="1920240"/>
            <a:ext cx="5135727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7EAE4"/>
                </a:solidFill>
                <a:latin typeface="Arial"/>
              </a:rPr>
              <a:t>Show the plan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560320"/>
            <a:ext cx="5135727" cy="3474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A3ABB6"/>
                </a:solidFill>
                <a:latin typeface="Arial"/>
              </a:rPr>
              <a:t>One preview of everything the assistant will do, with each step editable. People read it because it's the only 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3ABB6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7EAE4"/>
                </a:solidFill>
                <a:latin typeface="Arial"/>
              </a:rPr>
              <a:t>The numbers in the prototype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28800"/>
            <a:ext cx="3423818" cy="4023360"/>
          </a:xfrm>
          <a:prstGeom prst="roundRect">
            <a:avLst>
              <a:gd name="adj" fmla="val 3204"/>
            </a:avLst>
          </a:prstGeom>
          <a:solidFill>
            <a:srgbClr val="1C2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2875178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97A4FF"/>
                </a:solidFill>
                <a:latin typeface="Arial"/>
              </a:rPr>
              <a:t>1.5s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00400"/>
            <a:ext cx="2875178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7EAE4"/>
                </a:solidFill>
                <a:latin typeface="Arial"/>
              </a:rPr>
              <a:t>Hold to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2875178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3ABB6"/>
                </a:solidFill>
                <a:latin typeface="Arial"/>
              </a:rPr>
              <a:t>Long enough to mean it, short enough not to annoy.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828800"/>
            <a:ext cx="3423818" cy="4023360"/>
          </a:xfrm>
          <a:prstGeom prst="roundRect">
            <a:avLst>
              <a:gd name="adj" fmla="val 3204"/>
            </a:avLst>
          </a:prstGeom>
          <a:solidFill>
            <a:srgbClr val="1C2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8258" y="2103120"/>
            <a:ext cx="2875178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97A4FF"/>
                </a:solidFill>
                <a:latin typeface="Arial"/>
              </a:rPr>
              <a:t>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258" y="3200400"/>
            <a:ext cx="2875178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7EAE4"/>
                </a:solidFill>
                <a:latin typeface="Arial"/>
              </a:rPr>
              <a:t>Undo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8258" y="3657600"/>
            <a:ext cx="2875178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3ABB6"/>
                </a:solidFill>
                <a:latin typeface="Arial"/>
              </a:rPr>
              <a:t>The toast timer pauses while the pointer is on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076" y="1828800"/>
            <a:ext cx="3423818" cy="4023360"/>
          </a:xfrm>
          <a:prstGeom prst="roundRect">
            <a:avLst>
              <a:gd name="adj" fmla="val 3204"/>
            </a:avLst>
          </a:prstGeom>
          <a:solidFill>
            <a:srgbClr val="1C2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6396" y="2103120"/>
            <a:ext cx="2875178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97A4FF"/>
                </a:solidFill>
                <a:latin typeface="Arial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6396" y="3200400"/>
            <a:ext cx="2875178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7EAE4"/>
                </a:solidFill>
                <a:latin typeface="Arial"/>
              </a:rPr>
              <a:t>Drag to archive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396" y="3657600"/>
            <a:ext cx="2875178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3ABB6"/>
                </a:solidFill>
                <a:latin typeface="Arial"/>
              </a:rPr>
              <a:t>Past this, letting go archives. Before it, the card springs 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3ABB6"/>
                </a:solidFill>
                <a:latin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E7EAE4"/>
                </a:solidFill>
                <a:latin typeface="Arial"/>
              </a:rPr>
              <a:t>How a task should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148840"/>
            <a:ext cx="10820095" cy="36576"/>
          </a:xfrm>
          <a:prstGeom prst="rect">
            <a:avLst/>
          </a:prstGeom>
          <a:solidFill>
            <a:srgbClr val="363E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920240"/>
            <a:ext cx="493776" cy="493776"/>
          </a:xfrm>
          <a:prstGeom prst="ellipse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4192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7EAE4"/>
                </a:solidFill>
                <a:latin typeface="Arial"/>
              </a:rPr>
              <a:t>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3ABB6"/>
                </a:solidFill>
                <a:latin typeface="Arial"/>
              </a:rPr>
              <a:t>Show what will happen, in the user's words, before anything changes.</a:t>
            </a:r>
          </a:p>
        </p:txBody>
      </p:sp>
      <p:sp>
        <p:nvSpPr>
          <p:cNvPr id="8" name="Oval 7"/>
          <p:cNvSpPr/>
          <p:nvPr/>
        </p:nvSpPr>
        <p:spPr>
          <a:xfrm>
            <a:off x="3459403" y="1920240"/>
            <a:ext cx="493776" cy="493776"/>
          </a:xfrm>
          <a:prstGeom prst="ellipse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9403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4192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403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7EAE4"/>
                </a:solidFill>
                <a:latin typeface="Arial"/>
              </a:rP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3ABB6"/>
                </a:solidFill>
                <a:latin typeface="Arial"/>
              </a:rPr>
              <a:t>One clear yes or no. Editing a step is also an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6233007" y="1920240"/>
            <a:ext cx="493776" cy="493776"/>
          </a:xfrm>
          <a:prstGeom prst="ellipse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4192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7EAE4"/>
                </a:solidFill>
                <a:latin typeface="Arial"/>
              </a:rPr>
              <a:t>Run visibly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3ABB6"/>
                </a:solidFill>
                <a:latin typeface="Arial"/>
              </a:rPr>
              <a:t>Name each step as it happens and keep Stop in reach.</a:t>
            </a:r>
          </a:p>
        </p:txBody>
      </p:sp>
      <p:sp>
        <p:nvSpPr>
          <p:cNvPr id="16" name="Oval 15"/>
          <p:cNvSpPr/>
          <p:nvPr/>
        </p:nvSpPr>
        <p:spPr>
          <a:xfrm>
            <a:off x="9006611" y="1920240"/>
            <a:ext cx="493776" cy="493776"/>
          </a:xfrm>
          <a:prstGeom prst="ellipse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611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141920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7EAE4"/>
                </a:solidFill>
                <a:latin typeface="Arial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A3ABB6"/>
                </a:solidFill>
                <a:latin typeface="Arial"/>
              </a:rPr>
              <a:t>Say what changed, what didn't, and how to undo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3ABB6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97280" cy="1280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2000" b="1">
                <a:solidFill>
                  <a:srgbClr val="97A4FF"/>
                </a:solidFill>
                <a:latin typeface="Arial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828800"/>
            <a:ext cx="9905695" cy="609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400" b="0">
                <a:solidFill>
                  <a:srgbClr val="E7EAE4"/>
                </a:solidFill>
                <a:latin typeface="Arial"/>
              </a:rPr>
              <a:t>People trust what they can see coming.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667000"/>
            <a:ext cx="9905695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A3ABB6"/>
                </a:solidFill>
                <a:latin typeface="Arial"/>
              </a:rPr>
              <a:t>Working principle for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3ABB6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1828800"/>
          </a:xfrm>
          <a:prstGeom prst="rect">
            <a:avLst/>
          </a:prstGeom>
          <a:noFill/>
        </p:spPr>
        <p:txBody>
          <a:bodyPr wrap="square" anchor="b" lIns="45720" rIns="45720"/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E7EAE4"/>
                </a:solidFill>
                <a:latin typeface="Arial"/>
              </a:rPr>
              <a:t>Make the plan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02336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A3ABB6"/>
                </a:solidFill>
                <a:latin typeface="Arial"/>
              </a:rPr>
              <a:t>Prototypes and source: github.com/manya-5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099048"/>
            <a:ext cx="548640" cy="73152"/>
          </a:xfrm>
          <a:prstGeom prst="rect">
            <a:avLst/>
          </a:prstGeom>
          <a:solidFill>
            <a:srgbClr val="97A4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